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Josefin Sans" charset="1" panose="00000500000000000000"/>
      <p:regular r:id="rId19"/>
    </p:embeddedFont>
    <p:embeddedFont>
      <p:font typeface="Josefin Sans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3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13.pn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13.pn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2834" y="-1921745"/>
            <a:ext cx="6755642" cy="4114800"/>
          </a:xfrm>
          <a:custGeom>
            <a:avLst/>
            <a:gdLst/>
            <a:ahLst/>
            <a:cxnLst/>
            <a:rect r="r" b="b" t="t" l="l"/>
            <a:pathLst>
              <a:path h="4114800" w="6755642">
                <a:moveTo>
                  <a:pt x="0" y="0"/>
                </a:moveTo>
                <a:lnTo>
                  <a:pt x="6755642" y="0"/>
                </a:lnTo>
                <a:lnTo>
                  <a:pt x="67556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94" r="0" b="-29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03834" y="1790711"/>
            <a:ext cx="1194327" cy="2586142"/>
          </a:xfrm>
          <a:custGeom>
            <a:avLst/>
            <a:gdLst/>
            <a:ahLst/>
            <a:cxnLst/>
            <a:rect r="r" b="b" t="t" l="l"/>
            <a:pathLst>
              <a:path h="2586142" w="1194327">
                <a:moveTo>
                  <a:pt x="0" y="0"/>
                </a:moveTo>
                <a:lnTo>
                  <a:pt x="1194327" y="0"/>
                </a:lnTo>
                <a:lnTo>
                  <a:pt x="1194327" y="2586142"/>
                </a:lnTo>
                <a:lnTo>
                  <a:pt x="0" y="2586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3" t="0" r="-153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2095190" y="2021154"/>
            <a:ext cx="5357753" cy="5591583"/>
          </a:xfrm>
          <a:custGeom>
            <a:avLst/>
            <a:gdLst/>
            <a:ahLst/>
            <a:cxnLst/>
            <a:rect r="r" b="b" t="t" l="l"/>
            <a:pathLst>
              <a:path h="5591583" w="5357753">
                <a:moveTo>
                  <a:pt x="5357753" y="0"/>
                </a:moveTo>
                <a:lnTo>
                  <a:pt x="0" y="0"/>
                </a:lnTo>
                <a:lnTo>
                  <a:pt x="0" y="5591583"/>
                </a:lnTo>
                <a:lnTo>
                  <a:pt x="5357753" y="5591583"/>
                </a:lnTo>
                <a:lnTo>
                  <a:pt x="5357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1" r="0" b="-12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47148" y="1264426"/>
            <a:ext cx="3144039" cy="2440918"/>
          </a:xfrm>
          <a:custGeom>
            <a:avLst/>
            <a:gdLst/>
            <a:ahLst/>
            <a:cxnLst/>
            <a:rect r="r" b="b" t="t" l="l"/>
            <a:pathLst>
              <a:path h="2440918" w="3144039">
                <a:moveTo>
                  <a:pt x="0" y="0"/>
                </a:moveTo>
                <a:lnTo>
                  <a:pt x="3144039" y="0"/>
                </a:lnTo>
                <a:lnTo>
                  <a:pt x="3144039" y="2440918"/>
                </a:lnTo>
                <a:lnTo>
                  <a:pt x="0" y="24409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99" r="0" b="-19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24872" y="5005800"/>
            <a:ext cx="1894295" cy="4252500"/>
          </a:xfrm>
          <a:custGeom>
            <a:avLst/>
            <a:gdLst/>
            <a:ahLst/>
            <a:cxnLst/>
            <a:rect r="r" b="b" t="t" l="l"/>
            <a:pathLst>
              <a:path h="4252500" w="1894295">
                <a:moveTo>
                  <a:pt x="0" y="0"/>
                </a:moveTo>
                <a:lnTo>
                  <a:pt x="1894295" y="0"/>
                </a:lnTo>
                <a:lnTo>
                  <a:pt x="1894295" y="4252500"/>
                </a:lnTo>
                <a:lnTo>
                  <a:pt x="0" y="42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9" r="0" b="-2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11803" y="7612736"/>
            <a:ext cx="3486358" cy="4114800"/>
          </a:xfrm>
          <a:custGeom>
            <a:avLst/>
            <a:gdLst/>
            <a:ahLst/>
            <a:cxnLst/>
            <a:rect r="r" b="b" t="t" l="l"/>
            <a:pathLst>
              <a:path h="4114800" w="3486358">
                <a:moveTo>
                  <a:pt x="0" y="0"/>
                </a:moveTo>
                <a:lnTo>
                  <a:pt x="3486358" y="0"/>
                </a:lnTo>
                <a:lnTo>
                  <a:pt x="34863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7" t="0" r="-17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4504480" y="20029"/>
            <a:ext cx="3783520" cy="2090395"/>
            <a:chOff x="0" y="0"/>
            <a:chExt cx="5044693" cy="27871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44694" cy="2787142"/>
            </a:xfrm>
            <a:custGeom>
              <a:avLst/>
              <a:gdLst/>
              <a:ahLst/>
              <a:cxnLst/>
              <a:rect r="r" b="b" t="t" l="l"/>
              <a:pathLst>
                <a:path h="2787142" w="5044694">
                  <a:moveTo>
                    <a:pt x="0" y="0"/>
                  </a:moveTo>
                  <a:lnTo>
                    <a:pt x="5044694" y="0"/>
                  </a:lnTo>
                  <a:lnTo>
                    <a:pt x="5044694" y="2787142"/>
                  </a:lnTo>
                  <a:lnTo>
                    <a:pt x="0" y="2787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75" r="0" b="-7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22365" y="3797992"/>
            <a:ext cx="8217084" cy="210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2"/>
              </a:lnSpc>
            </a:pPr>
            <a:r>
              <a:rPr lang="en-US" sz="7475">
                <a:solidFill>
                  <a:srgbClr val="F7B4A7"/>
                </a:solidFill>
                <a:latin typeface="Josefin Sans"/>
                <a:ea typeface="Josefin Sans"/>
                <a:cs typeface="Josefin Sans"/>
                <a:sym typeface="Josefin Sans"/>
              </a:rPr>
              <a:t>Điện Toán Đám Mây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22365" y="2370466"/>
            <a:ext cx="8217084" cy="424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spc="446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PHẠM DUY PHÁT - 52100985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22365" y="6553347"/>
            <a:ext cx="8217084" cy="124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40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XÂY DỰNG MÔ PHỎNG HỆ</a:t>
            </a:r>
          </a:p>
          <a:p>
            <a:pPr algn="l">
              <a:lnSpc>
                <a:spcPts val="4759"/>
              </a:lnSpc>
            </a:pPr>
            <a:r>
              <a:rPr lang="en-US" sz="3400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THỐNG MINICLOUD CƠ BẢN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22365" y="2813034"/>
            <a:ext cx="8217084" cy="424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spc="446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TRẦN VĂN PHÚ - 52100989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78626" y="1940315"/>
            <a:ext cx="7754878" cy="1004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true">
                <a:solidFill>
                  <a:srgbClr val="94DDDE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MỤC TIÊU ĐỀ TÀI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00404" y="4991100"/>
            <a:ext cx="10010921" cy="255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9958" indent="-213319" lvl="2">
              <a:lnSpc>
                <a:spcPts val="3919"/>
              </a:lnSpc>
              <a:buFont typeface="Arial"/>
              <a:buChar char="⚬"/>
            </a:pPr>
            <a:r>
              <a:rPr lang="en-US" b="true" sz="2799">
                <a:solidFill>
                  <a:srgbClr val="FEFEFE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Hiểu kiến trúc Cloud Platform qua mô phỏng thu nhỏ</a:t>
            </a:r>
          </a:p>
          <a:p>
            <a:pPr algn="l" marL="639958" indent="-213319" lvl="2">
              <a:lnSpc>
                <a:spcPts val="3919"/>
              </a:lnSpc>
              <a:buFont typeface="Arial"/>
              <a:buChar char="⚬"/>
            </a:pPr>
            <a:r>
              <a:rPr lang="en-US" b="true" sz="2799">
                <a:solidFill>
                  <a:srgbClr val="FEFEFE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Triển khai 9 dịch vụ hạ tầng cloud bằng Docker</a:t>
            </a:r>
          </a:p>
          <a:p>
            <a:pPr algn="l" marL="639958" indent="-213319" lvl="2">
              <a:lnSpc>
                <a:spcPts val="3919"/>
              </a:lnSpc>
              <a:buFont typeface="Arial"/>
              <a:buChar char="⚬"/>
            </a:pPr>
            <a:r>
              <a:rPr lang="en-US" b="true" sz="2799">
                <a:solidFill>
                  <a:srgbClr val="FEFEFE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Thực hành Networking, Authentication, Storage, Monitoring</a:t>
            </a:r>
          </a:p>
          <a:p>
            <a:pPr algn="l" marL="640080" indent="-213360" lvl="2">
              <a:lnSpc>
                <a:spcPts val="3919"/>
              </a:lnSpc>
              <a:buFont typeface="Arial"/>
              <a:buChar char="⚬"/>
            </a:pPr>
            <a:r>
              <a:rPr lang="en-US" b="true" sz="2799">
                <a:solidFill>
                  <a:srgbClr val="FEFEFE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Tích hợp nhiều dịch vụ thành một hệ thống thống nhất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504480" y="20029"/>
            <a:ext cx="3783520" cy="2090395"/>
            <a:chOff x="0" y="0"/>
            <a:chExt cx="5044693" cy="27871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44694" cy="2787142"/>
            </a:xfrm>
            <a:custGeom>
              <a:avLst/>
              <a:gdLst/>
              <a:ahLst/>
              <a:cxnLst/>
              <a:rect r="r" b="b" t="t" l="l"/>
              <a:pathLst>
                <a:path h="2787142" w="5044694">
                  <a:moveTo>
                    <a:pt x="0" y="0"/>
                  </a:moveTo>
                  <a:lnTo>
                    <a:pt x="5044694" y="0"/>
                  </a:lnTo>
                  <a:lnTo>
                    <a:pt x="5044694" y="2787142"/>
                  </a:lnTo>
                  <a:lnTo>
                    <a:pt x="0" y="2787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5" r="0" b="-7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673168" y="3361296"/>
            <a:ext cx="3662625" cy="5642699"/>
          </a:xfrm>
          <a:custGeom>
            <a:avLst/>
            <a:gdLst/>
            <a:ahLst/>
            <a:cxnLst/>
            <a:rect r="r" b="b" t="t" l="l"/>
            <a:pathLst>
              <a:path h="5642699" w="3662625">
                <a:moveTo>
                  <a:pt x="0" y="0"/>
                </a:moveTo>
                <a:lnTo>
                  <a:pt x="3662625" y="0"/>
                </a:lnTo>
                <a:lnTo>
                  <a:pt x="3662625" y="5642699"/>
                </a:lnTo>
                <a:lnTo>
                  <a:pt x="0" y="56426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" t="0" r="-11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DD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97814" y="3086100"/>
            <a:ext cx="5131837" cy="4114800"/>
          </a:xfrm>
          <a:custGeom>
            <a:avLst/>
            <a:gdLst/>
            <a:ahLst/>
            <a:cxnLst/>
            <a:rect r="r" b="b" t="t" l="l"/>
            <a:pathLst>
              <a:path h="4114800" w="5131837">
                <a:moveTo>
                  <a:pt x="0" y="0"/>
                </a:moveTo>
                <a:lnTo>
                  <a:pt x="5131837" y="0"/>
                </a:lnTo>
                <a:lnTo>
                  <a:pt x="5131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13" t="0" r="-11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504480" y="20029"/>
            <a:ext cx="3783520" cy="2090395"/>
            <a:chOff x="0" y="0"/>
            <a:chExt cx="5044693" cy="27871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44694" cy="2787142"/>
            </a:xfrm>
            <a:custGeom>
              <a:avLst/>
              <a:gdLst/>
              <a:ahLst/>
              <a:cxnLst/>
              <a:rect r="r" b="b" t="t" l="l"/>
              <a:pathLst>
                <a:path h="2787142" w="5044694">
                  <a:moveTo>
                    <a:pt x="0" y="0"/>
                  </a:moveTo>
                  <a:lnTo>
                    <a:pt x="5044694" y="0"/>
                  </a:lnTo>
                  <a:lnTo>
                    <a:pt x="5044694" y="2787142"/>
                  </a:lnTo>
                  <a:lnTo>
                    <a:pt x="0" y="2787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5" r="0" b="-77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3340830"/>
            <a:ext cx="8649492" cy="6946170"/>
            <a:chOff x="0" y="0"/>
            <a:chExt cx="11532656" cy="9261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32616" cy="9261602"/>
            </a:xfrm>
            <a:custGeom>
              <a:avLst/>
              <a:gdLst/>
              <a:ahLst/>
              <a:cxnLst/>
              <a:rect r="r" b="b" t="t" l="l"/>
              <a:pathLst>
                <a:path h="9261602" w="11532616">
                  <a:moveTo>
                    <a:pt x="0" y="0"/>
                  </a:moveTo>
                  <a:lnTo>
                    <a:pt x="11532616" y="0"/>
                  </a:lnTo>
                  <a:lnTo>
                    <a:pt x="11532616" y="9261602"/>
                  </a:lnTo>
                  <a:lnTo>
                    <a:pt x="0" y="9261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08780" y="614616"/>
            <a:ext cx="9768230" cy="1004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true">
                <a:solidFill>
                  <a:srgbClr val="31356E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Kiến trúc hệ thống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8780" y="1803625"/>
            <a:ext cx="9358914" cy="1769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941" indent="-220980" lvl="2">
              <a:lnSpc>
                <a:spcPts val="3480"/>
              </a:lnSpc>
              <a:buFont typeface="Arial"/>
              <a:buChar char="⚬"/>
            </a:pPr>
            <a:r>
              <a:rPr lang="en-US" sz="29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9 services chạy Docker Compose</a:t>
            </a:r>
          </a:p>
          <a:p>
            <a:pPr algn="l" marL="1184699" indent="-296175" lvl="3">
              <a:lnSpc>
                <a:spcPts val="3480"/>
              </a:lnSpc>
              <a:buFont typeface="Arial"/>
              <a:buChar char="￭"/>
            </a:pPr>
            <a:r>
              <a:rPr lang="en-US" sz="29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Kết nối qua mạng cloud-net</a:t>
            </a:r>
          </a:p>
          <a:p>
            <a:pPr algn="l" marL="1184699" indent="-296175" lvl="3">
              <a:lnSpc>
                <a:spcPts val="3480"/>
              </a:lnSpc>
              <a:buFont typeface="Arial"/>
              <a:buChar char="￭"/>
            </a:pPr>
            <a:r>
              <a:rPr lang="en-US" sz="29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Mô phỏng cloud platform thu nhỏ</a:t>
            </a:r>
          </a:p>
          <a:p>
            <a:pPr algn="l" marL="1184699" indent="-296175" lvl="3">
              <a:lnSpc>
                <a:spcPts val="348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23784" y="1048557"/>
            <a:ext cx="7406386" cy="969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6298" b="true">
                <a:solidFill>
                  <a:srgbClr val="F7B4A7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Danh sách dịch vụ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811818" y="2217940"/>
            <a:ext cx="8430318" cy="782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3525" indent="-211175" lvl="2">
              <a:lnSpc>
                <a:spcPts val="3880"/>
              </a:lnSpc>
              <a:buFont typeface="Arial"/>
              <a:buChar char="⚬"/>
            </a:pPr>
            <a:r>
              <a:rPr lang="en-US" sz="2771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1. Web Server (Nginx) – cung cấp giao diện web tĩnh.</a:t>
            </a:r>
          </a:p>
          <a:p>
            <a:pPr algn="just" marL="633524" indent="-211175" lvl="2">
              <a:lnSpc>
                <a:spcPts val="3880"/>
              </a:lnSpc>
              <a:buFont typeface="Arial"/>
              <a:buChar char="⚬"/>
            </a:pPr>
            <a:r>
              <a:rPr lang="en-US" sz="2771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2. Application Server (Flask API) – xử lý logic ứng dụng.</a:t>
            </a:r>
          </a:p>
          <a:p>
            <a:pPr algn="just" marL="633524" indent="-211175" lvl="2">
              <a:lnSpc>
                <a:spcPts val="3880"/>
              </a:lnSpc>
              <a:buFont typeface="Arial"/>
              <a:buChar char="⚬"/>
            </a:pPr>
            <a:r>
              <a:rPr lang="en-US" sz="2771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3. Database Server (MariaDB) – lưu trữ dữ liệu.</a:t>
            </a:r>
          </a:p>
          <a:p>
            <a:pPr algn="just" marL="633525" indent="-211175" lvl="2">
              <a:lnSpc>
                <a:spcPts val="3880"/>
              </a:lnSpc>
              <a:buFont typeface="Arial"/>
              <a:buChar char="⚬"/>
            </a:pPr>
            <a:r>
              <a:rPr lang="en-US" sz="2771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4. Authentication Server (Keycloak) – quản lý người dùng và đăng nhập.</a:t>
            </a:r>
          </a:p>
          <a:p>
            <a:pPr algn="just" marL="633524" indent="-211175" lvl="2">
              <a:lnSpc>
                <a:spcPts val="3880"/>
              </a:lnSpc>
              <a:buFont typeface="Arial"/>
              <a:buChar char="⚬"/>
            </a:pPr>
            <a:r>
              <a:rPr lang="en-US" sz="2771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5. Object Storage Server (MinIO) – lưu trữ tệp tin.</a:t>
            </a:r>
          </a:p>
          <a:p>
            <a:pPr algn="just" marL="633525" indent="-211175" lvl="2">
              <a:lnSpc>
                <a:spcPts val="3880"/>
              </a:lnSpc>
              <a:buFont typeface="Arial"/>
              <a:buChar char="⚬"/>
            </a:pPr>
            <a:r>
              <a:rPr lang="en-US" sz="2771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6. DNS Server (Bind9) – quản lý tên miền nội bộ.</a:t>
            </a:r>
          </a:p>
          <a:p>
            <a:pPr algn="just" marL="633524" indent="-211175" lvl="2">
              <a:lnSpc>
                <a:spcPts val="3880"/>
              </a:lnSpc>
              <a:buFont typeface="Arial"/>
              <a:buChar char="⚬"/>
            </a:pPr>
            <a:r>
              <a:rPr lang="en-US" sz="2771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7. Monitoring Server (Prometheus + Node Exporter) – thu thập chỉ số hệ thống.</a:t>
            </a:r>
          </a:p>
          <a:p>
            <a:pPr algn="just" marL="633525" indent="-211175" lvl="2">
              <a:lnSpc>
                <a:spcPts val="3880"/>
              </a:lnSpc>
              <a:buFont typeface="Arial"/>
              <a:buChar char="⚬"/>
            </a:pPr>
            <a:r>
              <a:rPr lang="en-US" sz="2771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8. Logging / Visualization Server (Grafana) – hiển thị dữ liệu giám sát.</a:t>
            </a:r>
          </a:p>
          <a:p>
            <a:pPr algn="just" marL="633524" indent="-211175" lvl="2">
              <a:lnSpc>
                <a:spcPts val="3880"/>
              </a:lnSpc>
              <a:buFont typeface="Arial"/>
              <a:buChar char="⚬"/>
            </a:pPr>
            <a:r>
              <a:rPr lang="en-US" sz="2771">
                <a:solidFill>
                  <a:srgbClr val="94DDDE"/>
                </a:solidFill>
                <a:latin typeface="Josefin Sans"/>
                <a:ea typeface="Josefin Sans"/>
                <a:cs typeface="Josefin Sans"/>
                <a:sym typeface="Josefin Sans"/>
              </a:rPr>
              <a:t>9. Reverse Proxy / Load Balancer (Nginx) – điều phối truy cập, cân bằng tải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20904"/>
            <a:ext cx="3874545" cy="5122596"/>
          </a:xfrm>
          <a:custGeom>
            <a:avLst/>
            <a:gdLst/>
            <a:ahLst/>
            <a:cxnLst/>
            <a:rect r="r" b="b" t="t" l="l"/>
            <a:pathLst>
              <a:path h="5122596" w="3874545">
                <a:moveTo>
                  <a:pt x="0" y="0"/>
                </a:moveTo>
                <a:lnTo>
                  <a:pt x="3874545" y="0"/>
                </a:lnTo>
                <a:lnTo>
                  <a:pt x="3874545" y="5122596"/>
                </a:lnTo>
                <a:lnTo>
                  <a:pt x="0" y="5122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83" r="0" b="-8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653021"/>
            <a:ext cx="3874545" cy="5122596"/>
          </a:xfrm>
          <a:custGeom>
            <a:avLst/>
            <a:gdLst/>
            <a:ahLst/>
            <a:cxnLst/>
            <a:rect r="r" b="b" t="t" l="l"/>
            <a:pathLst>
              <a:path h="5122596" w="3874545">
                <a:moveTo>
                  <a:pt x="0" y="0"/>
                </a:moveTo>
                <a:lnTo>
                  <a:pt x="3874545" y="0"/>
                </a:lnTo>
                <a:lnTo>
                  <a:pt x="3874545" y="5122596"/>
                </a:lnTo>
                <a:lnTo>
                  <a:pt x="0" y="51225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3" r="0" b="-8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37273" y="1481046"/>
            <a:ext cx="3874545" cy="5122596"/>
          </a:xfrm>
          <a:custGeom>
            <a:avLst/>
            <a:gdLst/>
            <a:ahLst/>
            <a:cxnLst/>
            <a:rect r="r" b="b" t="t" l="l"/>
            <a:pathLst>
              <a:path h="5122596" w="3874545">
                <a:moveTo>
                  <a:pt x="0" y="0"/>
                </a:moveTo>
                <a:lnTo>
                  <a:pt x="3874545" y="0"/>
                </a:lnTo>
                <a:lnTo>
                  <a:pt x="3874545" y="5122596"/>
                </a:lnTo>
                <a:lnTo>
                  <a:pt x="0" y="51225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3" r="0" b="-8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504480" y="20029"/>
            <a:ext cx="3783520" cy="2090395"/>
            <a:chOff x="0" y="0"/>
            <a:chExt cx="5044693" cy="27871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44694" cy="2787142"/>
            </a:xfrm>
            <a:custGeom>
              <a:avLst/>
              <a:gdLst/>
              <a:ahLst/>
              <a:cxnLst/>
              <a:rect r="r" b="b" t="t" l="l"/>
              <a:pathLst>
                <a:path h="2787142" w="5044694">
                  <a:moveTo>
                    <a:pt x="0" y="0"/>
                  </a:moveTo>
                  <a:lnTo>
                    <a:pt x="5044694" y="0"/>
                  </a:lnTo>
                  <a:lnTo>
                    <a:pt x="5044694" y="2787142"/>
                  </a:lnTo>
                  <a:lnTo>
                    <a:pt x="0" y="2787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75" r="0" b="-77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51762" y="1107504"/>
            <a:ext cx="3489749" cy="2861594"/>
          </a:xfrm>
          <a:custGeom>
            <a:avLst/>
            <a:gdLst/>
            <a:ahLst/>
            <a:cxnLst/>
            <a:rect r="r" b="b" t="t" l="l"/>
            <a:pathLst>
              <a:path h="2861594" w="3489749">
                <a:moveTo>
                  <a:pt x="0" y="0"/>
                </a:moveTo>
                <a:lnTo>
                  <a:pt x="3489749" y="0"/>
                </a:lnTo>
                <a:lnTo>
                  <a:pt x="3489749" y="2861594"/>
                </a:lnTo>
                <a:lnTo>
                  <a:pt x="0" y="286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" r="0" b="-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0793" y="4342477"/>
            <a:ext cx="4618653" cy="4114800"/>
          </a:xfrm>
          <a:custGeom>
            <a:avLst/>
            <a:gdLst/>
            <a:ahLst/>
            <a:cxnLst/>
            <a:rect r="r" b="b" t="t" l="l"/>
            <a:pathLst>
              <a:path h="4114800" w="4618653">
                <a:moveTo>
                  <a:pt x="0" y="0"/>
                </a:moveTo>
                <a:lnTo>
                  <a:pt x="4618653" y="0"/>
                </a:lnTo>
                <a:lnTo>
                  <a:pt x="4618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28750" y="3016005"/>
            <a:ext cx="10259127" cy="5971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795" indent="-215265" lvl="2">
              <a:lnSpc>
                <a:spcPts val="3955"/>
              </a:lnSpc>
              <a:buFont typeface="Arial"/>
              <a:buChar char="⚬"/>
            </a:pPr>
            <a:r>
              <a:rPr lang="en-US" sz="2825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Clone Repository</a:t>
            </a:r>
          </a:p>
          <a:p>
            <a:pPr algn="l" marL="1154060" indent="-288515" lvl="3">
              <a:lnSpc>
                <a:spcPts val="3955"/>
              </a:lnSpc>
              <a:buFont typeface="Arial"/>
              <a:buChar char="￭"/>
            </a:pPr>
            <a:r>
              <a:rPr lang="en-US" sz="2825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git clone https://github.com/pp7803/DTDM.git</a:t>
            </a:r>
          </a:p>
          <a:p>
            <a:pPr algn="l" marL="1154060" indent="-288515" lvl="3">
              <a:lnSpc>
                <a:spcPts val="3955"/>
              </a:lnSpc>
              <a:buFont typeface="Arial"/>
              <a:buChar char="￭"/>
            </a:pPr>
            <a:r>
              <a:rPr lang="en-US" sz="2825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cd DTDM/520000545210098552100989MiniCloud</a:t>
            </a:r>
          </a:p>
          <a:p>
            <a:pPr algn="l" marL="645795" indent="-215265" lvl="2">
              <a:lnSpc>
                <a:spcPts val="3955"/>
              </a:lnSpc>
              <a:buFont typeface="Arial"/>
              <a:buChar char="⚬"/>
            </a:pPr>
            <a:r>
              <a:rPr lang="en-US" sz="2825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Build và Khởi Động</a:t>
            </a:r>
          </a:p>
          <a:p>
            <a:pPr algn="l" marL="1154060" indent="-288515" lvl="3">
              <a:lnSpc>
                <a:spcPts val="3955"/>
              </a:lnSpc>
              <a:buFont typeface="Arial"/>
              <a:buChar char="￭"/>
            </a:pPr>
            <a:r>
              <a:rPr lang="en-US" sz="2825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# Build images (không dùng cache)</a:t>
            </a:r>
          </a:p>
          <a:p>
            <a:pPr algn="l" marL="1154060" indent="-288515" lvl="3">
              <a:lnSpc>
                <a:spcPts val="3955"/>
              </a:lnSpc>
              <a:buFont typeface="Arial"/>
              <a:buChar char="￭"/>
            </a:pPr>
            <a:r>
              <a:rPr lang="en-US" sz="2825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docker compose build --no-cache</a:t>
            </a:r>
          </a:p>
          <a:p>
            <a:pPr algn="l" marL="1154060" indent="-288515" lvl="3">
              <a:lnSpc>
                <a:spcPts val="3955"/>
              </a:lnSpc>
            </a:pPr>
          </a:p>
          <a:p>
            <a:pPr algn="l" marL="1154060" indent="-288515" lvl="3">
              <a:lnSpc>
                <a:spcPts val="3955"/>
              </a:lnSpc>
              <a:buFont typeface="Arial"/>
              <a:buChar char="￭"/>
            </a:pPr>
            <a:r>
              <a:rPr lang="en-US" sz="2825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# Khởi động tất cả services</a:t>
            </a:r>
          </a:p>
          <a:p>
            <a:pPr algn="l" marL="1154060" indent="-288515" lvl="3">
              <a:lnSpc>
                <a:spcPts val="3955"/>
              </a:lnSpc>
              <a:buFont typeface="Arial"/>
              <a:buChar char="￭"/>
            </a:pPr>
            <a:r>
              <a:rPr lang="en-US" sz="2825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docker compose up -d</a:t>
            </a:r>
          </a:p>
          <a:p>
            <a:pPr algn="l" marL="1154060" indent="-288515" lvl="3">
              <a:lnSpc>
                <a:spcPts val="3955"/>
              </a:lnSpc>
            </a:pPr>
          </a:p>
          <a:p>
            <a:pPr algn="l" marL="1154060" indent="-288515" lvl="3">
              <a:lnSpc>
                <a:spcPts val="3955"/>
              </a:lnSpc>
              <a:buFont typeface="Arial"/>
              <a:buChar char="￭"/>
            </a:pPr>
            <a:r>
              <a:rPr lang="en-US" sz="2825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# Kiểm tra trạng thái</a:t>
            </a:r>
          </a:p>
          <a:p>
            <a:pPr algn="l" marL="1153939" indent="-288485" lvl="3">
              <a:lnSpc>
                <a:spcPts val="3954"/>
              </a:lnSpc>
              <a:buFont typeface="Arial"/>
              <a:buChar char="￭"/>
            </a:pPr>
            <a:r>
              <a:rPr lang="en-US" sz="2824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docker compose 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28750" y="1132450"/>
            <a:ext cx="10411225" cy="8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Cài Đặt và Triển Khai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504480" y="20029"/>
            <a:ext cx="3783520" cy="2090395"/>
            <a:chOff x="0" y="0"/>
            <a:chExt cx="5044693" cy="27871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44694" cy="2787142"/>
            </a:xfrm>
            <a:custGeom>
              <a:avLst/>
              <a:gdLst/>
              <a:ahLst/>
              <a:cxnLst/>
              <a:rect r="r" b="b" t="t" l="l"/>
              <a:pathLst>
                <a:path h="2787142" w="5044694">
                  <a:moveTo>
                    <a:pt x="0" y="0"/>
                  </a:moveTo>
                  <a:lnTo>
                    <a:pt x="5044694" y="0"/>
                  </a:lnTo>
                  <a:lnTo>
                    <a:pt x="5044694" y="2787142"/>
                  </a:lnTo>
                  <a:lnTo>
                    <a:pt x="0" y="2787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5" r="0" b="-77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0" y="4608343"/>
            <a:ext cx="8685503" cy="1004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Demo: Web Frontend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0" y="5906666"/>
            <a:ext cx="8685503" cy="340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sz="24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Home page</a:t>
            </a:r>
          </a:p>
          <a:p>
            <a:pPr algn="l" marL="548640" indent="-182880" lvl="2">
              <a:lnSpc>
                <a:spcPts val="3358"/>
              </a:lnSpc>
            </a:pPr>
          </a:p>
          <a:p>
            <a:pPr algn="l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sz="24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Blog page</a:t>
            </a:r>
          </a:p>
          <a:p>
            <a:pPr algn="l" marL="548640" indent="-182880" lvl="2">
              <a:lnSpc>
                <a:spcPts val="3358"/>
              </a:lnSpc>
            </a:pPr>
          </a:p>
          <a:p>
            <a:pPr algn="l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sz="24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http://localhost:8080/</a:t>
            </a:r>
          </a:p>
          <a:p>
            <a:pPr algn="l" marL="548640" indent="-182880" lvl="2">
              <a:lnSpc>
                <a:spcPts val="3358"/>
              </a:lnSpc>
            </a:pPr>
          </a:p>
          <a:p>
            <a:pPr algn="l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sz="24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http://localhost:8080/blog/</a:t>
            </a:r>
          </a:p>
          <a:p>
            <a:pPr algn="l" marL="548640" indent="-182880" lvl="2">
              <a:lnSpc>
                <a:spcPts val="335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24537" y="4608344"/>
            <a:ext cx="8139419" cy="1004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Demo: Backend API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9436" y="5816625"/>
            <a:ext cx="8139419" cy="382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sz="24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/hello</a:t>
            </a:r>
          </a:p>
          <a:p>
            <a:pPr algn="l" marL="548640" indent="-182880" lvl="2">
              <a:lnSpc>
                <a:spcPts val="3358"/>
              </a:lnSpc>
            </a:pPr>
          </a:p>
          <a:p>
            <a:pPr algn="l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sz="24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/student</a:t>
            </a:r>
          </a:p>
          <a:p>
            <a:pPr algn="l" marL="548640" indent="-182880" lvl="2">
              <a:lnSpc>
                <a:spcPts val="3358"/>
              </a:lnSpc>
            </a:pPr>
          </a:p>
          <a:p>
            <a:pPr algn="l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sz="24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Thử trực tiếp qua 8085 </a:t>
            </a:r>
          </a:p>
          <a:p>
            <a:pPr algn="l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sz="24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curl http://localhost:8085/hello</a:t>
            </a:r>
          </a:p>
          <a:p>
            <a:pPr algn="l" marL="548640" indent="-182880" lvl="2">
              <a:lnSpc>
                <a:spcPts val="3358"/>
              </a:lnSpc>
            </a:pPr>
          </a:p>
          <a:p>
            <a:pPr algn="l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sz="24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Thử qua API Gateway /api/hello</a:t>
            </a:r>
          </a:p>
          <a:p>
            <a:pPr algn="l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sz="24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curl http://localhost/api/hello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-963412"/>
            <a:ext cx="4597438" cy="2842053"/>
          </a:xfrm>
          <a:custGeom>
            <a:avLst/>
            <a:gdLst/>
            <a:ahLst/>
            <a:cxnLst/>
            <a:rect r="r" b="b" t="t" l="l"/>
            <a:pathLst>
              <a:path h="2842053" w="4597438">
                <a:moveTo>
                  <a:pt x="0" y="0"/>
                </a:moveTo>
                <a:lnTo>
                  <a:pt x="4597438" y="0"/>
                </a:lnTo>
                <a:lnTo>
                  <a:pt x="4597438" y="2842053"/>
                </a:lnTo>
                <a:lnTo>
                  <a:pt x="0" y="2842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37" r="0" b="-237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0551837" y="390596"/>
            <a:ext cx="2076668" cy="1276207"/>
          </a:xfrm>
          <a:custGeom>
            <a:avLst/>
            <a:gdLst/>
            <a:ahLst/>
            <a:cxnLst/>
            <a:rect r="r" b="b" t="t" l="l"/>
            <a:pathLst>
              <a:path h="1276207" w="2076668">
                <a:moveTo>
                  <a:pt x="2076668" y="0"/>
                </a:moveTo>
                <a:lnTo>
                  <a:pt x="0" y="0"/>
                </a:lnTo>
                <a:lnTo>
                  <a:pt x="0" y="1276207"/>
                </a:lnTo>
                <a:lnTo>
                  <a:pt x="2076668" y="1276207"/>
                </a:lnTo>
                <a:lnTo>
                  <a:pt x="20766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54" r="0" b="-15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994246" y="-3759204"/>
            <a:ext cx="5357753" cy="5591583"/>
          </a:xfrm>
          <a:custGeom>
            <a:avLst/>
            <a:gdLst/>
            <a:ahLst/>
            <a:cxnLst/>
            <a:rect r="r" b="b" t="t" l="l"/>
            <a:pathLst>
              <a:path h="5591583" w="5357753">
                <a:moveTo>
                  <a:pt x="0" y="0"/>
                </a:moveTo>
                <a:lnTo>
                  <a:pt x="5357753" y="0"/>
                </a:lnTo>
                <a:lnTo>
                  <a:pt x="5357753" y="5591583"/>
                </a:lnTo>
                <a:lnTo>
                  <a:pt x="0" y="55915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504480" y="20029"/>
            <a:ext cx="3783520" cy="2090395"/>
            <a:chOff x="0" y="0"/>
            <a:chExt cx="5044693" cy="27871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44694" cy="2787142"/>
            </a:xfrm>
            <a:custGeom>
              <a:avLst/>
              <a:gdLst/>
              <a:ahLst/>
              <a:cxnLst/>
              <a:rect r="r" b="b" t="t" l="l"/>
              <a:pathLst>
                <a:path h="2787142" w="5044694">
                  <a:moveTo>
                    <a:pt x="0" y="0"/>
                  </a:moveTo>
                  <a:lnTo>
                    <a:pt x="5044694" y="0"/>
                  </a:lnTo>
                  <a:lnTo>
                    <a:pt x="5044694" y="2787142"/>
                  </a:lnTo>
                  <a:lnTo>
                    <a:pt x="0" y="2787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75" r="0" b="-77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40181" y="3377692"/>
            <a:ext cx="9319119" cy="176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6"/>
              </a:lnSpc>
            </a:pPr>
            <a:r>
              <a:rPr lang="en-US" sz="6400" b="true">
                <a:solidFill>
                  <a:srgbClr val="94DDDE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DEMO DATABASE (MariaDB)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610774" y="1441513"/>
            <a:ext cx="2645731" cy="1625922"/>
          </a:xfrm>
          <a:custGeom>
            <a:avLst/>
            <a:gdLst/>
            <a:ahLst/>
            <a:cxnLst/>
            <a:rect r="r" b="b" t="t" l="l"/>
            <a:pathLst>
              <a:path h="1625922" w="2645731">
                <a:moveTo>
                  <a:pt x="0" y="0"/>
                </a:moveTo>
                <a:lnTo>
                  <a:pt x="2645731" y="0"/>
                </a:lnTo>
                <a:lnTo>
                  <a:pt x="2645731" y="1625922"/>
                </a:lnTo>
                <a:lnTo>
                  <a:pt x="0" y="16259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" r="0" b="-4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79313" y="5316566"/>
            <a:ext cx="5758626" cy="4114800"/>
          </a:xfrm>
          <a:custGeom>
            <a:avLst/>
            <a:gdLst/>
            <a:ahLst/>
            <a:cxnLst/>
            <a:rect r="r" b="b" t="t" l="l"/>
            <a:pathLst>
              <a:path h="4114800" w="5758626">
                <a:moveTo>
                  <a:pt x="0" y="0"/>
                </a:moveTo>
                <a:lnTo>
                  <a:pt x="5758626" y="0"/>
                </a:lnTo>
                <a:lnTo>
                  <a:pt x="57586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0" r="0" b="-8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40312" y="-1788377"/>
            <a:ext cx="1491622" cy="3229890"/>
          </a:xfrm>
          <a:custGeom>
            <a:avLst/>
            <a:gdLst/>
            <a:ahLst/>
            <a:cxnLst/>
            <a:rect r="r" b="b" t="t" l="l"/>
            <a:pathLst>
              <a:path h="3229890" w="1491622">
                <a:moveTo>
                  <a:pt x="0" y="0"/>
                </a:moveTo>
                <a:lnTo>
                  <a:pt x="1491622" y="0"/>
                </a:lnTo>
                <a:lnTo>
                  <a:pt x="1491622" y="3229890"/>
                </a:lnTo>
                <a:lnTo>
                  <a:pt x="0" y="32298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" r="0" b="-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242167" y="-1536821"/>
            <a:ext cx="3748344" cy="3073642"/>
          </a:xfrm>
          <a:custGeom>
            <a:avLst/>
            <a:gdLst/>
            <a:ahLst/>
            <a:cxnLst/>
            <a:rect r="r" b="b" t="t" l="l"/>
            <a:pathLst>
              <a:path h="3073642" w="3748344">
                <a:moveTo>
                  <a:pt x="0" y="0"/>
                </a:moveTo>
                <a:lnTo>
                  <a:pt x="3748344" y="0"/>
                </a:lnTo>
                <a:lnTo>
                  <a:pt x="3748344" y="3073642"/>
                </a:lnTo>
                <a:lnTo>
                  <a:pt x="0" y="30736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2" t="0" r="-1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66643" y="-2441088"/>
            <a:ext cx="4317873" cy="5892879"/>
          </a:xfrm>
          <a:custGeom>
            <a:avLst/>
            <a:gdLst/>
            <a:ahLst/>
            <a:cxnLst/>
            <a:rect r="r" b="b" t="t" l="l"/>
            <a:pathLst>
              <a:path h="5892879" w="4317873">
                <a:moveTo>
                  <a:pt x="0" y="0"/>
                </a:moveTo>
                <a:lnTo>
                  <a:pt x="4317873" y="0"/>
                </a:lnTo>
                <a:lnTo>
                  <a:pt x="4317873" y="5892879"/>
                </a:lnTo>
                <a:lnTo>
                  <a:pt x="0" y="58928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12" r="0" b="-112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742874" y="3067435"/>
            <a:ext cx="4597438" cy="2842053"/>
          </a:xfrm>
          <a:custGeom>
            <a:avLst/>
            <a:gdLst/>
            <a:ahLst/>
            <a:cxnLst/>
            <a:rect r="r" b="b" t="t" l="l"/>
            <a:pathLst>
              <a:path h="2842053" w="4597438">
                <a:moveTo>
                  <a:pt x="4597438" y="0"/>
                </a:moveTo>
                <a:lnTo>
                  <a:pt x="0" y="0"/>
                </a:lnTo>
                <a:lnTo>
                  <a:pt x="0" y="2842053"/>
                </a:lnTo>
                <a:lnTo>
                  <a:pt x="4597438" y="2842053"/>
                </a:lnTo>
                <a:lnTo>
                  <a:pt x="4597438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237" r="0" b="-23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831934" y="5124450"/>
            <a:ext cx="9358913" cy="39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941" indent="-220980" lvl="2">
              <a:lnSpc>
                <a:spcPts val="3480"/>
              </a:lnSpc>
              <a:buFont typeface="Arial"/>
              <a:buChar char="⚬"/>
            </a:pPr>
            <a:r>
              <a:rPr lang="en-US" sz="2900">
                <a:solidFill>
                  <a:srgbClr val="EFEFEF"/>
                </a:solidFill>
                <a:latin typeface="Josefin Sans"/>
                <a:ea typeface="Josefin Sans"/>
                <a:cs typeface="Josefin Sans"/>
                <a:sym typeface="Josefin Sans"/>
              </a:rPr>
              <a:t>Schema</a:t>
            </a:r>
          </a:p>
          <a:p>
            <a:pPr algn="l" marL="662941" indent="-220980" lvl="2">
              <a:lnSpc>
                <a:spcPts val="3480"/>
              </a:lnSpc>
              <a:buFont typeface="Arial"/>
              <a:buChar char="⚬"/>
            </a:pPr>
            <a:r>
              <a:rPr lang="en-US" sz="2900">
                <a:solidFill>
                  <a:srgbClr val="EFEFEF"/>
                </a:solidFill>
                <a:latin typeface="Josefin Sans"/>
                <a:ea typeface="Josefin Sans"/>
                <a:cs typeface="Josefin Sans"/>
                <a:sym typeface="Josefin Sans"/>
              </a:rPr>
              <a:t>Sample data (5 SV)</a:t>
            </a:r>
          </a:p>
          <a:p>
            <a:pPr algn="l" marL="662941" indent="-220980" lvl="2">
              <a:lnSpc>
                <a:spcPts val="3480"/>
              </a:lnSpc>
              <a:buFont typeface="Arial"/>
              <a:buChar char="⚬"/>
            </a:pPr>
            <a:r>
              <a:rPr lang="en-US" sz="2900">
                <a:solidFill>
                  <a:srgbClr val="EFEFEF"/>
                </a:solidFill>
                <a:latin typeface="Josefin Sans"/>
                <a:ea typeface="Josefin Sans"/>
                <a:cs typeface="Josefin Sans"/>
                <a:sym typeface="Josefin Sans"/>
              </a:rPr>
              <a:t>CRUD test</a:t>
            </a:r>
          </a:p>
          <a:p>
            <a:pPr algn="l" marL="662941" indent="-220980" lvl="2">
              <a:lnSpc>
                <a:spcPts val="3480"/>
              </a:lnSpc>
            </a:pPr>
          </a:p>
          <a:p>
            <a:pPr algn="l" marL="662941" indent="-220980" lvl="2">
              <a:lnSpc>
                <a:spcPts val="3480"/>
              </a:lnSpc>
            </a:pPr>
            <a:r>
              <a:rPr lang="en-US" sz="2900">
                <a:solidFill>
                  <a:srgbClr val="EFEFEF"/>
                </a:solidFill>
                <a:latin typeface="Josefin Sans"/>
                <a:ea typeface="Josefin Sans"/>
                <a:cs typeface="Josefin Sans"/>
                <a:sym typeface="Josefin Sans"/>
              </a:rPr>
              <a:t>docker run -it --rm --network cloud-net -e MYSQL_PWD=root mysql:8 \</a:t>
            </a:r>
          </a:p>
          <a:p>
            <a:pPr algn="l" marL="662941" indent="-220980" lvl="2">
              <a:lnSpc>
                <a:spcPts val="3480"/>
              </a:lnSpc>
            </a:pPr>
            <a:r>
              <a:rPr lang="en-US" sz="2900">
                <a:solidFill>
                  <a:srgbClr val="EFEFEF"/>
                </a:solidFill>
                <a:latin typeface="Josefin Sans"/>
                <a:ea typeface="Josefin Sans"/>
                <a:cs typeface="Josefin Sans"/>
                <a:sym typeface="Josefin Sans"/>
              </a:rPr>
              <a:t>  sh -lc 'mysql -h relational-database-server -uroot -e "USE minicloud; SHOW TABLES; SELECT * FROM notes;"'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504480" y="20029"/>
            <a:ext cx="3783520" cy="2090395"/>
            <a:chOff x="0" y="0"/>
            <a:chExt cx="5044693" cy="27871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44694" cy="2787142"/>
            </a:xfrm>
            <a:custGeom>
              <a:avLst/>
              <a:gdLst/>
              <a:ahLst/>
              <a:cxnLst/>
              <a:rect r="r" b="b" t="t" l="l"/>
              <a:pathLst>
                <a:path h="2787142" w="5044694">
                  <a:moveTo>
                    <a:pt x="0" y="0"/>
                  </a:moveTo>
                  <a:lnTo>
                    <a:pt x="5044694" y="0"/>
                  </a:lnTo>
                  <a:lnTo>
                    <a:pt x="5044694" y="2787142"/>
                  </a:lnTo>
                  <a:lnTo>
                    <a:pt x="0" y="2787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75" r="0" b="-77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DD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90600"/>
            <a:ext cx="1613535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64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DEMO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6628" y="4019705"/>
            <a:ext cx="2909104" cy="154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477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DEMO: MINIO STORAGE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66701" y="7155830"/>
            <a:ext cx="3407560" cy="162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1"/>
              </a:lnSpc>
            </a:pPr>
            <a:r>
              <a:rPr lang="en-US" sz="2229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Buckets: profile-pics, documents</a:t>
            </a:r>
          </a:p>
          <a:p>
            <a:pPr algn="ctr">
              <a:lnSpc>
                <a:spcPts val="3121"/>
              </a:lnSpc>
            </a:pPr>
          </a:p>
          <a:p>
            <a:pPr algn="ctr">
              <a:lnSpc>
                <a:spcPts val="3121"/>
              </a:lnSpc>
            </a:pPr>
            <a:r>
              <a:rPr lang="en-US" sz="2229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Upload file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66701" y="5517829"/>
            <a:ext cx="3407560" cy="131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http://localhost:9001/</a:t>
            </a:r>
          </a:p>
          <a:p>
            <a:pPr algn="ctr">
              <a:lnSpc>
                <a:spcPts val="3358"/>
              </a:lnSpc>
            </a:pPr>
            <a:r>
              <a:rPr lang="en-US" sz="24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Username: minioadmin</a:t>
            </a:r>
          </a:p>
          <a:p>
            <a:pPr algn="ctr">
              <a:lnSpc>
                <a:spcPts val="3358"/>
              </a:lnSpc>
            </a:pPr>
            <a:r>
              <a:rPr lang="en-US" sz="24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Password: minioadmin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068" y="4053042"/>
            <a:ext cx="3089689" cy="100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477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DEMO: KEYCLOAK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068" y="7172411"/>
            <a:ext cx="3089689" cy="1878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Realm</a:t>
            </a: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2 Users sv01, sv02</a:t>
            </a: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Client nodejs-app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068" y="5537553"/>
            <a:ext cx="3089689" cy="131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http://localhost:8081/</a:t>
            </a:r>
          </a:p>
          <a:p>
            <a:pPr algn="ctr">
              <a:lnSpc>
                <a:spcPts val="3358"/>
              </a:lnSpc>
            </a:pPr>
            <a:r>
              <a:rPr lang="en-US" sz="24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Username: admin</a:t>
            </a:r>
          </a:p>
          <a:p>
            <a:pPr algn="ctr">
              <a:lnSpc>
                <a:spcPts val="3358"/>
              </a:lnSpc>
            </a:pPr>
            <a:r>
              <a:rPr lang="en-US" sz="24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Password: admin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60741" y="4124947"/>
            <a:ext cx="2804193" cy="53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477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DEMO: DNS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60741" y="7200771"/>
            <a:ext cx="2804193" cy="1878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Records: web, app-backend, minio, keycloak</a:t>
            </a: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dig test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60741" y="5389822"/>
            <a:ext cx="2804193" cy="174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dig @127.0.0.1 -p 1053 web-frontend-server.cloud.local +short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92779" y="4053042"/>
            <a:ext cx="3617881" cy="100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477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DEMO: PROMETHEUS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92779" y="7256281"/>
            <a:ext cx="3617881" cy="150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Targets: node, web, prometheus</a:t>
            </a: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Query metrics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92779" y="5486395"/>
            <a:ext cx="3617881" cy="131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8"/>
              </a:lnSpc>
            </a:pPr>
            <a:r>
              <a:rPr lang="en-US" sz="24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http://localhost:9090/</a:t>
            </a:r>
          </a:p>
          <a:p>
            <a:pPr algn="just">
              <a:lnSpc>
                <a:spcPts val="3358"/>
              </a:lnSpc>
            </a:pPr>
            <a:r>
              <a:rPr lang="en-US" sz="24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Query: node_cpu_seconds_total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472585" y="4033992"/>
            <a:ext cx="3202240" cy="102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477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DEMO: GRAFANA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72585" y="7244139"/>
            <a:ext cx="3202240" cy="224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Dashboard 1860 import</a:t>
            </a: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CPU / RAM / Network</a:t>
            </a: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URL: http://prometheus:9090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472585" y="5406663"/>
            <a:ext cx="3202240" cy="132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http://localhost:3000/</a:t>
            </a:r>
          </a:p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Username: admin</a:t>
            </a:r>
          </a:p>
          <a:p>
            <a:pPr algn="ctr">
              <a:lnSpc>
                <a:spcPts val="3358"/>
              </a:lnSpc>
            </a:pPr>
            <a:r>
              <a:rPr lang="en-US" sz="24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Password: admin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51969" y="3075559"/>
            <a:ext cx="603370" cy="85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b="true" sz="4400" spc="752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83582" y="3075559"/>
            <a:ext cx="603370" cy="85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b="true" sz="4400" spc="752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47064" y="3075559"/>
            <a:ext cx="603370" cy="85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b="true" sz="4400" spc="752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05050" y="3075559"/>
            <a:ext cx="603370" cy="85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b="true" sz="4400" spc="752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470335" y="3075559"/>
            <a:ext cx="603370" cy="85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b="true" sz="4400" spc="752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5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641051" y="3541172"/>
            <a:ext cx="2675671" cy="28575"/>
            <a:chOff x="0" y="0"/>
            <a:chExt cx="3567561" cy="38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5400" y="0"/>
              <a:ext cx="3529457" cy="50800"/>
            </a:xfrm>
            <a:custGeom>
              <a:avLst/>
              <a:gdLst/>
              <a:ahLst/>
              <a:cxnLst/>
              <a:rect r="r" b="b" t="t" l="l"/>
              <a:pathLst>
                <a:path h="50800" w="3529457">
                  <a:moveTo>
                    <a:pt x="0" y="0"/>
                  </a:moveTo>
                  <a:lnTo>
                    <a:pt x="3529457" y="0"/>
                  </a:lnTo>
                  <a:lnTo>
                    <a:pt x="352945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B4B8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085682" y="3531647"/>
            <a:ext cx="2675671" cy="28575"/>
            <a:chOff x="0" y="0"/>
            <a:chExt cx="3567561" cy="38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25400" y="0"/>
              <a:ext cx="3529457" cy="50800"/>
            </a:xfrm>
            <a:custGeom>
              <a:avLst/>
              <a:gdLst/>
              <a:ahLst/>
              <a:cxnLst/>
              <a:rect r="r" b="b" t="t" l="l"/>
              <a:pathLst>
                <a:path h="50800" w="3529457">
                  <a:moveTo>
                    <a:pt x="0" y="0"/>
                  </a:moveTo>
                  <a:lnTo>
                    <a:pt x="3529457" y="0"/>
                  </a:lnTo>
                  <a:lnTo>
                    <a:pt x="352945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B4B8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522966" y="3531647"/>
            <a:ext cx="2675671" cy="28575"/>
            <a:chOff x="0" y="0"/>
            <a:chExt cx="3567561" cy="38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25400" y="0"/>
              <a:ext cx="3529457" cy="50800"/>
            </a:xfrm>
            <a:custGeom>
              <a:avLst/>
              <a:gdLst/>
              <a:ahLst/>
              <a:cxnLst/>
              <a:rect r="r" b="b" t="t" l="l"/>
              <a:pathLst>
                <a:path h="50800" w="3529457">
                  <a:moveTo>
                    <a:pt x="0" y="0"/>
                  </a:moveTo>
                  <a:lnTo>
                    <a:pt x="3529457" y="0"/>
                  </a:lnTo>
                  <a:lnTo>
                    <a:pt x="352945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B4B8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808953" y="3531647"/>
            <a:ext cx="2675671" cy="28575"/>
            <a:chOff x="0" y="0"/>
            <a:chExt cx="3567561" cy="38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0"/>
              <a:ext cx="3529457" cy="50800"/>
            </a:xfrm>
            <a:custGeom>
              <a:avLst/>
              <a:gdLst/>
              <a:ahLst/>
              <a:cxnLst/>
              <a:rect r="r" b="b" t="t" l="l"/>
              <a:pathLst>
                <a:path h="50800" w="3529457">
                  <a:moveTo>
                    <a:pt x="0" y="0"/>
                  </a:moveTo>
                  <a:lnTo>
                    <a:pt x="3529457" y="0"/>
                  </a:lnTo>
                  <a:lnTo>
                    <a:pt x="352945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B4B8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4504480" y="20029"/>
            <a:ext cx="3783520" cy="2090395"/>
            <a:chOff x="0" y="0"/>
            <a:chExt cx="5044693" cy="278719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044694" cy="2787142"/>
            </a:xfrm>
            <a:custGeom>
              <a:avLst/>
              <a:gdLst/>
              <a:ahLst/>
              <a:cxnLst/>
              <a:rect r="r" b="b" t="t" l="l"/>
              <a:pathLst>
                <a:path h="2787142" w="5044694">
                  <a:moveTo>
                    <a:pt x="0" y="0"/>
                  </a:moveTo>
                  <a:lnTo>
                    <a:pt x="5044694" y="0"/>
                  </a:lnTo>
                  <a:lnTo>
                    <a:pt x="5044694" y="2787142"/>
                  </a:lnTo>
                  <a:lnTo>
                    <a:pt x="0" y="2787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5" r="0" b="-77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51762" y="1107504"/>
            <a:ext cx="3489749" cy="2861594"/>
          </a:xfrm>
          <a:custGeom>
            <a:avLst/>
            <a:gdLst/>
            <a:ahLst/>
            <a:cxnLst/>
            <a:rect r="r" b="b" t="t" l="l"/>
            <a:pathLst>
              <a:path h="2861594" w="3489749">
                <a:moveTo>
                  <a:pt x="0" y="0"/>
                </a:moveTo>
                <a:lnTo>
                  <a:pt x="3489749" y="0"/>
                </a:lnTo>
                <a:lnTo>
                  <a:pt x="3489749" y="2861594"/>
                </a:lnTo>
                <a:lnTo>
                  <a:pt x="0" y="286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" r="0" b="-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0793" y="4342477"/>
            <a:ext cx="4618653" cy="4114800"/>
          </a:xfrm>
          <a:custGeom>
            <a:avLst/>
            <a:gdLst/>
            <a:ahLst/>
            <a:cxnLst/>
            <a:rect r="r" b="b" t="t" l="l"/>
            <a:pathLst>
              <a:path h="4114800" w="4618653">
                <a:moveTo>
                  <a:pt x="0" y="0"/>
                </a:moveTo>
                <a:lnTo>
                  <a:pt x="4618653" y="0"/>
                </a:lnTo>
                <a:lnTo>
                  <a:pt x="4618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73577" y="3901371"/>
            <a:ext cx="9285723" cy="3990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795" indent="-215265" lvl="2">
              <a:lnSpc>
                <a:spcPts val="3955"/>
              </a:lnSpc>
              <a:buFont typeface="Arial"/>
              <a:buChar char="⚬"/>
            </a:pPr>
            <a:r>
              <a:rPr lang="en-US" sz="2825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# Web route</a:t>
            </a:r>
          </a:p>
          <a:p>
            <a:pPr algn="l" marL="645795" indent="-215265" lvl="2">
              <a:lnSpc>
                <a:spcPts val="3955"/>
              </a:lnSpc>
              <a:buFont typeface="Arial"/>
              <a:buChar char="⚬"/>
            </a:pPr>
            <a:r>
              <a:rPr lang="en-US" sz="2825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curl -I http://localhost/</a:t>
            </a:r>
          </a:p>
          <a:p>
            <a:pPr algn="l" marL="645795" indent="-215265" lvl="2">
              <a:lnSpc>
                <a:spcPts val="3955"/>
              </a:lnSpc>
            </a:pPr>
          </a:p>
          <a:p>
            <a:pPr algn="l" marL="645795" indent="-215265" lvl="2">
              <a:lnSpc>
                <a:spcPts val="3955"/>
              </a:lnSpc>
              <a:buFont typeface="Arial"/>
              <a:buChar char="⚬"/>
            </a:pPr>
            <a:r>
              <a:rPr lang="en-US" sz="2825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# API route</a:t>
            </a:r>
          </a:p>
          <a:p>
            <a:pPr algn="l" marL="645795" indent="-215265" lvl="2">
              <a:lnSpc>
                <a:spcPts val="3955"/>
              </a:lnSpc>
              <a:buFont typeface="Arial"/>
              <a:buChar char="⚬"/>
            </a:pPr>
            <a:r>
              <a:rPr lang="en-US" sz="2825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curl -s http://localhost/api/hello</a:t>
            </a:r>
          </a:p>
          <a:p>
            <a:pPr algn="l" marL="645795" indent="-215265" lvl="2">
              <a:lnSpc>
                <a:spcPts val="3955"/>
              </a:lnSpc>
            </a:pPr>
          </a:p>
          <a:p>
            <a:pPr algn="l" marL="645795" indent="-215265" lvl="2">
              <a:lnSpc>
                <a:spcPts val="3955"/>
              </a:lnSpc>
              <a:buFont typeface="Arial"/>
              <a:buChar char="⚬"/>
            </a:pPr>
            <a:r>
              <a:rPr lang="en-US" sz="2825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# Auth route</a:t>
            </a:r>
          </a:p>
          <a:p>
            <a:pPr algn="l" marL="645674" indent="-215225" lvl="2">
              <a:lnSpc>
                <a:spcPts val="3954"/>
              </a:lnSpc>
              <a:buFont typeface="Arial"/>
              <a:buChar char="⚬"/>
            </a:pPr>
            <a:r>
              <a:rPr lang="en-US" sz="2824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curl -I http://localhost/auth/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09232" y="2017815"/>
            <a:ext cx="9285723" cy="89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DEMO API GATEWAY NGINX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504480" y="20029"/>
            <a:ext cx="3783520" cy="2090395"/>
            <a:chOff x="0" y="0"/>
            <a:chExt cx="5044693" cy="27871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44694" cy="2787142"/>
            </a:xfrm>
            <a:custGeom>
              <a:avLst/>
              <a:gdLst/>
              <a:ahLst/>
              <a:cxnLst/>
              <a:rect r="r" b="b" t="t" l="l"/>
              <a:pathLst>
                <a:path h="2787142" w="5044694">
                  <a:moveTo>
                    <a:pt x="0" y="0"/>
                  </a:moveTo>
                  <a:lnTo>
                    <a:pt x="5044694" y="0"/>
                  </a:lnTo>
                  <a:lnTo>
                    <a:pt x="5044694" y="2787142"/>
                  </a:lnTo>
                  <a:lnTo>
                    <a:pt x="0" y="2787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5" r="0" b="-77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40181" y="3377692"/>
            <a:ext cx="9319119" cy="176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6"/>
              </a:lnSpc>
            </a:pPr>
            <a:r>
              <a:rPr lang="en-US" sz="6400" b="true">
                <a:solidFill>
                  <a:srgbClr val="94DDDE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KIỂM TRA KẾT NỐI MẠNG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610774" y="1441513"/>
            <a:ext cx="2645731" cy="1625922"/>
          </a:xfrm>
          <a:custGeom>
            <a:avLst/>
            <a:gdLst/>
            <a:ahLst/>
            <a:cxnLst/>
            <a:rect r="r" b="b" t="t" l="l"/>
            <a:pathLst>
              <a:path h="1625922" w="2645731">
                <a:moveTo>
                  <a:pt x="0" y="0"/>
                </a:moveTo>
                <a:lnTo>
                  <a:pt x="2645731" y="0"/>
                </a:lnTo>
                <a:lnTo>
                  <a:pt x="2645731" y="1625922"/>
                </a:lnTo>
                <a:lnTo>
                  <a:pt x="0" y="16259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" r="0" b="-4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79313" y="5316566"/>
            <a:ext cx="5758626" cy="4114800"/>
          </a:xfrm>
          <a:custGeom>
            <a:avLst/>
            <a:gdLst/>
            <a:ahLst/>
            <a:cxnLst/>
            <a:rect r="r" b="b" t="t" l="l"/>
            <a:pathLst>
              <a:path h="4114800" w="5758626">
                <a:moveTo>
                  <a:pt x="0" y="0"/>
                </a:moveTo>
                <a:lnTo>
                  <a:pt x="5758626" y="0"/>
                </a:lnTo>
                <a:lnTo>
                  <a:pt x="57586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0" r="0" b="-8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40312" y="-1788377"/>
            <a:ext cx="1491622" cy="3229890"/>
          </a:xfrm>
          <a:custGeom>
            <a:avLst/>
            <a:gdLst/>
            <a:ahLst/>
            <a:cxnLst/>
            <a:rect r="r" b="b" t="t" l="l"/>
            <a:pathLst>
              <a:path h="3229890" w="1491622">
                <a:moveTo>
                  <a:pt x="0" y="0"/>
                </a:moveTo>
                <a:lnTo>
                  <a:pt x="1491622" y="0"/>
                </a:lnTo>
                <a:lnTo>
                  <a:pt x="1491622" y="3229890"/>
                </a:lnTo>
                <a:lnTo>
                  <a:pt x="0" y="32298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" r="0" b="-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242167" y="-1536821"/>
            <a:ext cx="3748344" cy="3073642"/>
          </a:xfrm>
          <a:custGeom>
            <a:avLst/>
            <a:gdLst/>
            <a:ahLst/>
            <a:cxnLst/>
            <a:rect r="r" b="b" t="t" l="l"/>
            <a:pathLst>
              <a:path h="3073642" w="3748344">
                <a:moveTo>
                  <a:pt x="0" y="0"/>
                </a:moveTo>
                <a:lnTo>
                  <a:pt x="3748344" y="0"/>
                </a:lnTo>
                <a:lnTo>
                  <a:pt x="3748344" y="3073642"/>
                </a:lnTo>
                <a:lnTo>
                  <a:pt x="0" y="30736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2" t="0" r="-1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66643" y="-2441088"/>
            <a:ext cx="4317873" cy="5892879"/>
          </a:xfrm>
          <a:custGeom>
            <a:avLst/>
            <a:gdLst/>
            <a:ahLst/>
            <a:cxnLst/>
            <a:rect r="r" b="b" t="t" l="l"/>
            <a:pathLst>
              <a:path h="5892879" w="4317873">
                <a:moveTo>
                  <a:pt x="0" y="0"/>
                </a:moveTo>
                <a:lnTo>
                  <a:pt x="4317873" y="0"/>
                </a:lnTo>
                <a:lnTo>
                  <a:pt x="4317873" y="5892879"/>
                </a:lnTo>
                <a:lnTo>
                  <a:pt x="0" y="58928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12" r="0" b="-112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742874" y="3067435"/>
            <a:ext cx="4597438" cy="2842053"/>
          </a:xfrm>
          <a:custGeom>
            <a:avLst/>
            <a:gdLst/>
            <a:ahLst/>
            <a:cxnLst/>
            <a:rect r="r" b="b" t="t" l="l"/>
            <a:pathLst>
              <a:path h="2842053" w="4597438">
                <a:moveTo>
                  <a:pt x="4597438" y="0"/>
                </a:moveTo>
                <a:lnTo>
                  <a:pt x="0" y="0"/>
                </a:lnTo>
                <a:lnTo>
                  <a:pt x="0" y="2842053"/>
                </a:lnTo>
                <a:lnTo>
                  <a:pt x="4597438" y="2842053"/>
                </a:lnTo>
                <a:lnTo>
                  <a:pt x="4597438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237" r="0" b="-23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831934" y="5468966"/>
            <a:ext cx="9358913" cy="39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941" indent="-220980" lvl="2">
              <a:lnSpc>
                <a:spcPts val="3480"/>
              </a:lnSpc>
              <a:buFont typeface="Arial"/>
              <a:buChar char="⚬"/>
            </a:pPr>
            <a:r>
              <a:rPr lang="en-US" sz="2900">
                <a:solidFill>
                  <a:srgbClr val="EFEFEF"/>
                </a:solidFill>
                <a:latin typeface="Josefin Sans"/>
                <a:ea typeface="Josefin Sans"/>
                <a:cs typeface="Josefin Sans"/>
                <a:sym typeface="Josefin Sans"/>
              </a:rPr>
              <a:t>Kiểm tra toàn bộ service ping</a:t>
            </a:r>
          </a:p>
          <a:p>
            <a:pPr algn="l" marL="662941" indent="-220980" lvl="2">
              <a:lnSpc>
                <a:spcPts val="3480"/>
              </a:lnSpc>
            </a:pPr>
          </a:p>
          <a:p>
            <a:pPr algn="l" marL="662941" indent="-220980" lvl="2">
              <a:lnSpc>
                <a:spcPts val="3480"/>
              </a:lnSpc>
              <a:buFont typeface="Arial"/>
              <a:buChar char="⚬"/>
            </a:pPr>
            <a:r>
              <a:rPr lang="en-US" sz="2900">
                <a:solidFill>
                  <a:srgbClr val="EFEFEF"/>
                </a:solidFill>
                <a:latin typeface="Josefin Sans"/>
                <a:ea typeface="Josefin Sans"/>
                <a:cs typeface="Josefin Sans"/>
                <a:sym typeface="Josefin Sans"/>
              </a:rPr>
              <a:t>DNS resolve</a:t>
            </a:r>
          </a:p>
          <a:p>
            <a:pPr algn="l" marL="662941" indent="-220980" lvl="2">
              <a:lnSpc>
                <a:spcPts val="3480"/>
              </a:lnSpc>
            </a:pPr>
          </a:p>
          <a:p>
            <a:pPr algn="l" marL="662941" indent="-220980" lvl="2">
              <a:lnSpc>
                <a:spcPts val="3480"/>
              </a:lnSpc>
              <a:buFont typeface="Arial"/>
              <a:buChar char="⚬"/>
            </a:pPr>
            <a:r>
              <a:rPr lang="en-US" sz="2900">
                <a:solidFill>
                  <a:srgbClr val="EFEFEF"/>
                </a:solidFill>
                <a:latin typeface="Josefin Sans"/>
                <a:ea typeface="Josefin Sans"/>
                <a:cs typeface="Josefin Sans"/>
                <a:sym typeface="Josefin Sans"/>
              </a:rPr>
              <a:t>docker run --rm --network cloud-net \</a:t>
            </a:r>
          </a:p>
          <a:p>
            <a:pPr algn="l" marL="662941" indent="-220980" lvl="2">
              <a:lnSpc>
                <a:spcPts val="3480"/>
              </a:lnSpc>
            </a:pPr>
            <a:r>
              <a:rPr lang="en-US" sz="2900">
                <a:solidFill>
                  <a:srgbClr val="EFEFEF"/>
                </a:solidFill>
                <a:latin typeface="Josefin Sans"/>
                <a:ea typeface="Josefin Sans"/>
                <a:cs typeface="Josefin Sans"/>
                <a:sym typeface="Josefin Sans"/>
              </a:rPr>
              <a:t>     -v "$(pwd)/test-network-detailed.sh:/test.sh:ro" \</a:t>
            </a:r>
          </a:p>
          <a:p>
            <a:pPr algn="l" marL="662941" indent="-220980" lvl="2">
              <a:lnSpc>
                <a:spcPts val="3480"/>
              </a:lnSpc>
            </a:pPr>
            <a:r>
              <a:rPr lang="en-US" sz="2900">
                <a:solidFill>
                  <a:srgbClr val="EFEFEF"/>
                </a:solidFill>
                <a:latin typeface="Josefin Sans"/>
                <a:ea typeface="Josefin Sans"/>
                <a:cs typeface="Josefin Sans"/>
                <a:sym typeface="Josefin Sans"/>
              </a:rPr>
              <a:t>     alpine:latest sh /test.sh 2&gt;&amp;1 | head -50</a:t>
            </a:r>
          </a:p>
          <a:p>
            <a:pPr algn="l" marL="662941" indent="-220980" lvl="2">
              <a:lnSpc>
                <a:spcPts val="3480"/>
              </a:lnSpc>
            </a:pPr>
          </a:p>
          <a:p>
            <a:pPr algn="l" marL="662941" indent="-220980" lvl="2">
              <a:lnSpc>
                <a:spcPts val="3480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4504480" y="20029"/>
            <a:ext cx="3783520" cy="2090395"/>
            <a:chOff x="0" y="0"/>
            <a:chExt cx="5044693" cy="27871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44694" cy="2787142"/>
            </a:xfrm>
            <a:custGeom>
              <a:avLst/>
              <a:gdLst/>
              <a:ahLst/>
              <a:cxnLst/>
              <a:rect r="r" b="b" t="t" l="l"/>
              <a:pathLst>
                <a:path h="2787142" w="5044694">
                  <a:moveTo>
                    <a:pt x="0" y="0"/>
                  </a:moveTo>
                  <a:lnTo>
                    <a:pt x="5044694" y="0"/>
                  </a:lnTo>
                  <a:lnTo>
                    <a:pt x="5044694" y="2787142"/>
                  </a:lnTo>
                  <a:lnTo>
                    <a:pt x="0" y="2787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75" r="0" b="-77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29400" y="3095725"/>
            <a:ext cx="6338112" cy="6384545"/>
          </a:xfrm>
          <a:custGeom>
            <a:avLst/>
            <a:gdLst/>
            <a:ahLst/>
            <a:cxnLst/>
            <a:rect r="r" b="b" t="t" l="l"/>
            <a:pathLst>
              <a:path h="6384545" w="6338112">
                <a:moveTo>
                  <a:pt x="0" y="0"/>
                </a:moveTo>
                <a:lnTo>
                  <a:pt x="6338112" y="0"/>
                </a:lnTo>
                <a:lnTo>
                  <a:pt x="6338112" y="6384545"/>
                </a:lnTo>
                <a:lnTo>
                  <a:pt x="0" y="6384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" r="0" b="-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1090" y="3913116"/>
            <a:ext cx="8778466" cy="5567153"/>
            <a:chOff x="0" y="0"/>
            <a:chExt cx="11704621" cy="74228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04574" cy="7422896"/>
            </a:xfrm>
            <a:custGeom>
              <a:avLst/>
              <a:gdLst/>
              <a:ahLst/>
              <a:cxnLst/>
              <a:rect r="r" b="b" t="t" l="l"/>
              <a:pathLst>
                <a:path h="7422896" w="11704574">
                  <a:moveTo>
                    <a:pt x="0" y="0"/>
                  </a:moveTo>
                  <a:lnTo>
                    <a:pt x="11704574" y="0"/>
                  </a:lnTo>
                  <a:lnTo>
                    <a:pt x="11704574" y="7422896"/>
                  </a:lnTo>
                  <a:lnTo>
                    <a:pt x="0" y="7422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781090" y="455420"/>
            <a:ext cx="9768230" cy="1004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true">
                <a:solidFill>
                  <a:srgbClr val="F7B4A7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Kết quả đạt được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1090" y="1644429"/>
            <a:ext cx="9358914" cy="1769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941" indent="-220980" lvl="2">
              <a:lnSpc>
                <a:spcPts val="3480"/>
              </a:lnSpc>
              <a:buFont typeface="Arial"/>
              <a:buChar char="⚬"/>
            </a:pPr>
            <a:r>
              <a:rPr lang="en-US" sz="2900">
                <a:solidFill>
                  <a:srgbClr val="EFEFEF"/>
                </a:solidFill>
                <a:latin typeface="Josefin Sans"/>
                <a:ea typeface="Josefin Sans"/>
                <a:cs typeface="Josefin Sans"/>
                <a:sym typeface="Josefin Sans"/>
              </a:rPr>
              <a:t>Hệ thống mô phỏng đầy đủ cloud platform</a:t>
            </a:r>
          </a:p>
          <a:p>
            <a:pPr algn="l" marL="662941" indent="-220980" lvl="2">
              <a:lnSpc>
                <a:spcPts val="3480"/>
              </a:lnSpc>
              <a:buFont typeface="Arial"/>
              <a:buChar char="⚬"/>
            </a:pPr>
            <a:r>
              <a:rPr lang="en-US" sz="2900">
                <a:solidFill>
                  <a:srgbClr val="EFEFEF"/>
                </a:solidFill>
                <a:latin typeface="Josefin Sans"/>
                <a:ea typeface="Josefin Sans"/>
                <a:cs typeface="Josefin Sans"/>
                <a:sym typeface="Josefin Sans"/>
              </a:rPr>
              <a:t>Vận hành ổn định</a:t>
            </a:r>
          </a:p>
          <a:p>
            <a:pPr algn="l" marL="662941" indent="-220980" lvl="2">
              <a:lnSpc>
                <a:spcPts val="3480"/>
              </a:lnSpc>
              <a:buFont typeface="Arial"/>
              <a:buChar char="⚬"/>
            </a:pPr>
            <a:r>
              <a:rPr lang="en-US" sz="2900">
                <a:solidFill>
                  <a:srgbClr val="EFEFEF"/>
                </a:solidFill>
                <a:latin typeface="Josefin Sans"/>
                <a:ea typeface="Josefin Sans"/>
                <a:cs typeface="Josefin Sans"/>
                <a:sym typeface="Josefin Sans"/>
              </a:rPr>
              <a:t>Dễ mở rộng</a:t>
            </a:r>
          </a:p>
          <a:p>
            <a:pPr algn="l" marL="662941" indent="-220980" lvl="2">
              <a:lnSpc>
                <a:spcPts val="3480"/>
              </a:lnSpc>
              <a:buFont typeface="Arial"/>
              <a:buChar char="⚬"/>
            </a:pPr>
            <a:r>
              <a:rPr lang="en-US" sz="2900">
                <a:solidFill>
                  <a:srgbClr val="EFEFEF"/>
                </a:solidFill>
                <a:latin typeface="Josefin Sans"/>
                <a:ea typeface="Josefin Sans"/>
                <a:cs typeface="Josefin Sans"/>
                <a:sym typeface="Josefin Sans"/>
              </a:rPr>
              <a:t>Có logging, monitoring, auth đầy đủ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504480" y="20029"/>
            <a:ext cx="3783520" cy="2090395"/>
            <a:chOff x="0" y="0"/>
            <a:chExt cx="5044693" cy="27871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44694" cy="2787142"/>
            </a:xfrm>
            <a:custGeom>
              <a:avLst/>
              <a:gdLst/>
              <a:ahLst/>
              <a:cxnLst/>
              <a:rect r="r" b="b" t="t" l="l"/>
              <a:pathLst>
                <a:path h="2787142" w="5044694">
                  <a:moveTo>
                    <a:pt x="0" y="0"/>
                  </a:moveTo>
                  <a:lnTo>
                    <a:pt x="5044694" y="0"/>
                  </a:lnTo>
                  <a:lnTo>
                    <a:pt x="5044694" y="2787142"/>
                  </a:lnTo>
                  <a:lnTo>
                    <a:pt x="0" y="2787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5" r="0" b="-77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DD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068" y="1027126"/>
            <a:ext cx="1613535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6400" b="true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Các Tính Năng Đã Triển Khai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83053" y="4019705"/>
            <a:ext cx="3174563" cy="154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477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DATABASE </a:t>
            </a:r>
          </a:p>
          <a:p>
            <a:pPr algn="ctr">
              <a:lnSpc>
                <a:spcPts val="3919"/>
              </a:lnSpc>
            </a:pPr>
            <a:r>
              <a:rPr lang="en-US" b="true" sz="2799" spc="477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&amp; </a:t>
            </a:r>
          </a:p>
          <a:p>
            <a:pPr algn="ctr">
              <a:lnSpc>
                <a:spcPts val="3919"/>
              </a:lnSpc>
            </a:pPr>
            <a:r>
              <a:rPr lang="en-US" b="true" sz="2799" spc="477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STORAGE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11082" y="6058070"/>
            <a:ext cx="3718504" cy="298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b="true" sz="2400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Relational database (MariaDB)</a:t>
            </a:r>
          </a:p>
          <a:p>
            <a:pPr algn="l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b="true" sz="2400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Object storage (MinIO S3-compatible)</a:t>
            </a:r>
          </a:p>
          <a:p>
            <a:pPr algn="l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b="true" sz="2400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Database initialization scripts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3397" y="4019705"/>
            <a:ext cx="3472360" cy="1533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477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FRONTEND </a:t>
            </a:r>
          </a:p>
          <a:p>
            <a:pPr algn="ctr">
              <a:lnSpc>
                <a:spcPts val="3919"/>
              </a:lnSpc>
            </a:pPr>
            <a:r>
              <a:rPr lang="en-US" b="true" sz="2799" spc="477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&amp;</a:t>
            </a:r>
          </a:p>
          <a:p>
            <a:pPr algn="ctr">
              <a:lnSpc>
                <a:spcPts val="3919"/>
              </a:lnSpc>
            </a:pPr>
            <a:r>
              <a:rPr lang="en-US" b="true" sz="2799" spc="477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 BACKEND API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3397" y="6028020"/>
            <a:ext cx="3472360" cy="2151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b="true" sz="2400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Web tĩnh với Nginx</a:t>
            </a:r>
          </a:p>
          <a:p>
            <a:pPr algn="just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b="true" sz="2400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RESTful API với Node.js/Express</a:t>
            </a:r>
          </a:p>
          <a:p>
            <a:pPr algn="just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b="true" sz="2400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JWT authentication support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60740" y="4110660"/>
            <a:ext cx="2804193" cy="1533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477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SECURITY</a:t>
            </a:r>
          </a:p>
          <a:p>
            <a:pPr algn="ctr">
              <a:lnSpc>
                <a:spcPts val="3919"/>
              </a:lnSpc>
            </a:pPr>
            <a:r>
              <a:rPr lang="en-US" b="true" sz="2799" spc="477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 &amp; IDENTITY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35640" y="6078125"/>
            <a:ext cx="3029293" cy="257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b="true" sz="2400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Keycloak OIDC authentication</a:t>
            </a:r>
          </a:p>
          <a:p>
            <a:pPr algn="l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b="true" sz="2400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User management</a:t>
            </a:r>
          </a:p>
          <a:p>
            <a:pPr algn="l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b="true" sz="2400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JWT token verification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64934" y="4143998"/>
            <a:ext cx="4135611" cy="519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477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INFRASTRUCTURE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64934" y="6009795"/>
            <a:ext cx="4135611" cy="2151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b="true" sz="2400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Internal DNS resolution (BIND9)</a:t>
            </a:r>
          </a:p>
          <a:p>
            <a:pPr algn="l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b="true" sz="2400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API Gateway with routing</a:t>
            </a:r>
          </a:p>
          <a:p>
            <a:pPr algn="l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b="true" sz="2400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Docker network isolation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504480" y="4019705"/>
            <a:ext cx="3783520" cy="1533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477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MONITORING</a:t>
            </a:r>
          </a:p>
          <a:p>
            <a:pPr algn="ctr">
              <a:lnSpc>
                <a:spcPts val="3919"/>
              </a:lnSpc>
            </a:pPr>
            <a:r>
              <a:rPr lang="en-US" b="true" sz="2799" spc="477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 &amp; OBSERVABILITY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04480" y="5964660"/>
            <a:ext cx="3783520" cy="257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b="true" sz="2400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Metrics collection (Prometheus)</a:t>
            </a:r>
          </a:p>
          <a:p>
            <a:pPr algn="l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b="true" sz="2400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Visualization (Grafana)</a:t>
            </a:r>
          </a:p>
          <a:p>
            <a:pPr algn="l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b="true" sz="2400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System metrics (Node Exporter)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51969" y="3075559"/>
            <a:ext cx="603370" cy="85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b="true" sz="4400" spc="752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83582" y="3075559"/>
            <a:ext cx="603370" cy="85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b="true" sz="4400" spc="752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47064" y="3075559"/>
            <a:ext cx="603370" cy="85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b="true" sz="4400" spc="752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05050" y="3075559"/>
            <a:ext cx="603370" cy="85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b="true" sz="4400" spc="752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70335" y="3075559"/>
            <a:ext cx="603370" cy="85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b="true" sz="4400" spc="752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5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641051" y="3541172"/>
            <a:ext cx="2675671" cy="28575"/>
            <a:chOff x="0" y="0"/>
            <a:chExt cx="3567561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5400" y="0"/>
              <a:ext cx="3529457" cy="50800"/>
            </a:xfrm>
            <a:custGeom>
              <a:avLst/>
              <a:gdLst/>
              <a:ahLst/>
              <a:cxnLst/>
              <a:rect r="r" b="b" t="t" l="l"/>
              <a:pathLst>
                <a:path h="50800" w="3529457">
                  <a:moveTo>
                    <a:pt x="0" y="0"/>
                  </a:moveTo>
                  <a:lnTo>
                    <a:pt x="3529457" y="0"/>
                  </a:lnTo>
                  <a:lnTo>
                    <a:pt x="352945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B4B8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085682" y="3531647"/>
            <a:ext cx="2675671" cy="28575"/>
            <a:chOff x="0" y="0"/>
            <a:chExt cx="3567561" cy="38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0"/>
              <a:ext cx="3529457" cy="50800"/>
            </a:xfrm>
            <a:custGeom>
              <a:avLst/>
              <a:gdLst/>
              <a:ahLst/>
              <a:cxnLst/>
              <a:rect r="r" b="b" t="t" l="l"/>
              <a:pathLst>
                <a:path h="50800" w="3529457">
                  <a:moveTo>
                    <a:pt x="0" y="0"/>
                  </a:moveTo>
                  <a:lnTo>
                    <a:pt x="3529457" y="0"/>
                  </a:lnTo>
                  <a:lnTo>
                    <a:pt x="352945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B4B8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522966" y="3531647"/>
            <a:ext cx="2675671" cy="28575"/>
            <a:chOff x="0" y="0"/>
            <a:chExt cx="3567561" cy="381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5400" y="0"/>
              <a:ext cx="3529457" cy="50800"/>
            </a:xfrm>
            <a:custGeom>
              <a:avLst/>
              <a:gdLst/>
              <a:ahLst/>
              <a:cxnLst/>
              <a:rect r="r" b="b" t="t" l="l"/>
              <a:pathLst>
                <a:path h="50800" w="3529457">
                  <a:moveTo>
                    <a:pt x="0" y="0"/>
                  </a:moveTo>
                  <a:lnTo>
                    <a:pt x="3529457" y="0"/>
                  </a:lnTo>
                  <a:lnTo>
                    <a:pt x="352945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B4B8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808953" y="3531647"/>
            <a:ext cx="2675671" cy="28575"/>
            <a:chOff x="0" y="0"/>
            <a:chExt cx="3567561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25400" y="0"/>
              <a:ext cx="3529457" cy="50800"/>
            </a:xfrm>
            <a:custGeom>
              <a:avLst/>
              <a:gdLst/>
              <a:ahLst/>
              <a:cxnLst/>
              <a:rect r="r" b="b" t="t" l="l"/>
              <a:pathLst>
                <a:path h="50800" w="3529457">
                  <a:moveTo>
                    <a:pt x="0" y="0"/>
                  </a:moveTo>
                  <a:lnTo>
                    <a:pt x="3529457" y="0"/>
                  </a:lnTo>
                  <a:lnTo>
                    <a:pt x="352945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B4B8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4504480" y="20029"/>
            <a:ext cx="3783520" cy="2090395"/>
            <a:chOff x="0" y="0"/>
            <a:chExt cx="5044693" cy="278719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44694" cy="2787142"/>
            </a:xfrm>
            <a:custGeom>
              <a:avLst/>
              <a:gdLst/>
              <a:ahLst/>
              <a:cxnLst/>
              <a:rect r="r" b="b" t="t" l="l"/>
              <a:pathLst>
                <a:path h="2787142" w="5044694">
                  <a:moveTo>
                    <a:pt x="0" y="0"/>
                  </a:moveTo>
                  <a:lnTo>
                    <a:pt x="5044694" y="0"/>
                  </a:lnTo>
                  <a:lnTo>
                    <a:pt x="5044694" y="2787142"/>
                  </a:lnTo>
                  <a:lnTo>
                    <a:pt x="0" y="2787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5" r="0" b="-77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DD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5158" y="3485565"/>
            <a:ext cx="7312717" cy="185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9"/>
              </a:lnSpc>
            </a:pPr>
            <a:r>
              <a:rPr lang="en-US" b="true" sz="8000" spc="-88">
                <a:solidFill>
                  <a:srgbClr val="2B4B82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Bạn có câu hỏi nào không?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65158" y="6008319"/>
            <a:ext cx="7312717" cy="1107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CẢM ƠN THẦY VÀ CÁC BẠN ĐÃ 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2B4B82"/>
                </a:solidFill>
                <a:latin typeface="Josefin Sans"/>
                <a:ea typeface="Josefin Sans"/>
                <a:cs typeface="Josefin Sans"/>
                <a:sym typeface="Josefin Sans"/>
              </a:rPr>
              <a:t>LẮNG NGHE!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854137" y="3018272"/>
            <a:ext cx="7411325" cy="4635447"/>
          </a:xfrm>
          <a:custGeom>
            <a:avLst/>
            <a:gdLst/>
            <a:ahLst/>
            <a:cxnLst/>
            <a:rect r="r" b="b" t="t" l="l"/>
            <a:pathLst>
              <a:path h="4635447" w="7411325">
                <a:moveTo>
                  <a:pt x="0" y="0"/>
                </a:moveTo>
                <a:lnTo>
                  <a:pt x="7411325" y="0"/>
                </a:lnTo>
                <a:lnTo>
                  <a:pt x="7411325" y="4635447"/>
                </a:lnTo>
                <a:lnTo>
                  <a:pt x="0" y="4635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3" t="0" r="-23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65100" y="8613636"/>
            <a:ext cx="4338720" cy="2713672"/>
          </a:xfrm>
          <a:custGeom>
            <a:avLst/>
            <a:gdLst/>
            <a:ahLst/>
            <a:cxnLst/>
            <a:rect r="r" b="b" t="t" l="l"/>
            <a:pathLst>
              <a:path h="2713672" w="4338720">
                <a:moveTo>
                  <a:pt x="0" y="0"/>
                </a:moveTo>
                <a:lnTo>
                  <a:pt x="4338720" y="0"/>
                </a:lnTo>
                <a:lnTo>
                  <a:pt x="4338720" y="2713672"/>
                </a:lnTo>
                <a:lnTo>
                  <a:pt x="0" y="271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" t="0" r="-3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76014" y="7483497"/>
            <a:ext cx="3289448" cy="2057400"/>
          </a:xfrm>
          <a:custGeom>
            <a:avLst/>
            <a:gdLst/>
            <a:ahLst/>
            <a:cxnLst/>
            <a:rect r="r" b="b" t="t" l="l"/>
            <a:pathLst>
              <a:path h="2057400" w="3289448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36" r="0" b="-13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16152" y="1989572"/>
            <a:ext cx="3289448" cy="2057400"/>
          </a:xfrm>
          <a:custGeom>
            <a:avLst/>
            <a:gdLst/>
            <a:ahLst/>
            <a:cxnLst/>
            <a:rect r="r" b="b" t="t" l="l"/>
            <a:pathLst>
              <a:path h="2057400" w="3289448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36" r="0" b="-136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4504480" y="20029"/>
            <a:ext cx="3783520" cy="2090395"/>
            <a:chOff x="0" y="0"/>
            <a:chExt cx="5044693" cy="27871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44694" cy="2787142"/>
            </a:xfrm>
            <a:custGeom>
              <a:avLst/>
              <a:gdLst/>
              <a:ahLst/>
              <a:cxnLst/>
              <a:rect r="r" b="b" t="t" l="l"/>
              <a:pathLst>
                <a:path h="2787142" w="5044694">
                  <a:moveTo>
                    <a:pt x="0" y="0"/>
                  </a:moveTo>
                  <a:lnTo>
                    <a:pt x="5044694" y="0"/>
                  </a:lnTo>
                  <a:lnTo>
                    <a:pt x="5044694" y="2787142"/>
                  </a:lnTo>
                  <a:lnTo>
                    <a:pt x="0" y="2787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5" r="0" b="-77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DAG6RVDW1mE</dc:identifier>
  <dcterms:modified xsi:type="dcterms:W3CDTF">2011-08-01T06:04:30Z</dcterms:modified>
  <cp:revision>1</cp:revision>
  <dc:title>Xanh dương Các thành phần Cùng kích thước &amp; Giả lập Công nghệ trong Giáo dục Bản thuyết trình Công nghệ.pptx</dc:title>
</cp:coreProperties>
</file>